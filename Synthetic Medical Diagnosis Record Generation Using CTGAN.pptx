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80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1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95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22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47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70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9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5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34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45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42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6380CBF-C46F-4F07-8969-F2239FC659E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053B2D6-6D33-4B69-86C7-F0DE57773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63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59BF-6E2C-1883-1C4B-ECAA70CC1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2"/>
            <a:ext cx="9966960" cy="2845863"/>
          </a:xfrm>
        </p:spPr>
        <p:txBody>
          <a:bodyPr/>
          <a:lstStyle/>
          <a:p>
            <a:r>
              <a:rPr lang="en-IN" sz="3600" b="1" u="sng" dirty="0"/>
              <a:t>Synthetic Medical Diagnosis Record Generation Using CTGAN</a:t>
            </a:r>
            <a:br>
              <a:rPr lang="en-IN" sz="1800" b="1" u="sng" dirty="0"/>
            </a:br>
            <a:endParaRPr lang="en-IN" sz="1800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37A8D-6518-959A-A9E1-09C3344FA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484915"/>
            <a:ext cx="7891272" cy="2373086"/>
          </a:xfrm>
        </p:spPr>
        <p:txBody>
          <a:bodyPr>
            <a:normAutofit/>
          </a:bodyPr>
          <a:lstStyle/>
          <a:p>
            <a:r>
              <a:rPr lang="en-IN" sz="2800" b="1" dirty="0"/>
              <a:t>Domain:</a:t>
            </a:r>
            <a:r>
              <a:rPr lang="en-IN" sz="2800" dirty="0"/>
              <a:t> Healthcare </a:t>
            </a:r>
            <a:br>
              <a:rPr lang="en-IN" sz="2800" dirty="0"/>
            </a:br>
            <a:r>
              <a:rPr lang="en-IN" sz="2800" b="1" dirty="0"/>
              <a:t>Technology:</a:t>
            </a:r>
            <a:r>
              <a:rPr lang="en-IN" sz="2800" dirty="0"/>
              <a:t> Generative AI</a:t>
            </a:r>
            <a:br>
              <a:rPr lang="en-IN" sz="2800" dirty="0"/>
            </a:br>
            <a:r>
              <a:rPr lang="en-IN" sz="2800" b="1" dirty="0"/>
              <a:t>Model:</a:t>
            </a:r>
            <a:r>
              <a:rPr lang="en-IN" sz="2800" dirty="0"/>
              <a:t> CTGAN</a:t>
            </a:r>
            <a:br>
              <a:rPr lang="en-IN" sz="2800" dirty="0"/>
            </a:br>
            <a:r>
              <a:rPr lang="en-IN" sz="2800" b="1" dirty="0"/>
              <a:t>Machine Learning Model:</a:t>
            </a:r>
            <a:r>
              <a:rPr lang="en-IN" sz="2800" dirty="0"/>
              <a:t> Random Forest</a:t>
            </a:r>
            <a:br>
              <a:rPr lang="en-IN" sz="2800" dirty="0"/>
            </a:br>
            <a:r>
              <a:rPr lang="en-IN" sz="2400" b="1" dirty="0"/>
              <a:t>AI/ML Internship – Week 6 Final Project</a:t>
            </a:r>
            <a:br>
              <a:rPr lang="en-IN" sz="2400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BEA0A-D0E5-1BC8-8E9F-F7DD897F899A}"/>
              </a:ext>
            </a:extLst>
          </p:cNvPr>
          <p:cNvSpPr txBox="1"/>
          <p:nvPr/>
        </p:nvSpPr>
        <p:spPr>
          <a:xfrm>
            <a:off x="9568544" y="6115594"/>
            <a:ext cx="2427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</a:t>
            </a:r>
            <a:br>
              <a:rPr lang="en-IN" dirty="0"/>
            </a:br>
            <a:r>
              <a:rPr lang="en-IN" b="1" dirty="0"/>
              <a:t>Simran Bhadouria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29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2341-06DD-0E5A-26B6-B69EA6FC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0578-9A4F-2127-3CCE-3808444DB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72343"/>
            <a:ext cx="10058400" cy="42998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Healthcare organizations generate large amounts of patient data for diagnosis, research, and machine learning.</a:t>
            </a:r>
          </a:p>
          <a:p>
            <a:pPr marL="0" indent="0">
              <a:buNone/>
            </a:pPr>
            <a:r>
              <a:rPr lang="en-IN" dirty="0"/>
              <a:t>However, real medical records often contain sensitive and private information.</a:t>
            </a:r>
          </a:p>
          <a:p>
            <a:pPr marL="0" indent="0">
              <a:buNone/>
            </a:pPr>
            <a:r>
              <a:rPr lang="en-IN" b="1" u="sng" dirty="0"/>
              <a:t>Key Challenge</a:t>
            </a:r>
          </a:p>
          <a:p>
            <a:r>
              <a:rPr lang="en-IN" dirty="0"/>
              <a:t>Real patient data is difficult to share </a:t>
            </a:r>
          </a:p>
          <a:p>
            <a:r>
              <a:rPr lang="en-IN" dirty="0"/>
              <a:t>Medical data is privacy-sensitive </a:t>
            </a:r>
          </a:p>
          <a:p>
            <a:r>
              <a:rPr lang="en-IN" dirty="0"/>
              <a:t>Large datasets are required for machine learning </a:t>
            </a:r>
          </a:p>
          <a:p>
            <a:r>
              <a:rPr lang="en-IN" dirty="0"/>
              <a:t>Rare medical conditions may have limited records </a:t>
            </a:r>
          </a:p>
          <a:p>
            <a:pPr marL="0" indent="0">
              <a:buNone/>
            </a:pPr>
            <a:r>
              <a:rPr lang="en-IN" b="1" dirty="0"/>
              <a:t>Proposed Solution</a:t>
            </a:r>
          </a:p>
          <a:p>
            <a:pPr marL="0" indent="0">
              <a:buNone/>
            </a:pPr>
            <a:r>
              <a:rPr lang="en-IN" dirty="0"/>
              <a:t>Use </a:t>
            </a:r>
            <a:r>
              <a:rPr lang="en-IN" b="1" dirty="0"/>
              <a:t>Generative AI with CTGAN</a:t>
            </a:r>
            <a:r>
              <a:rPr lang="en-IN" dirty="0"/>
              <a:t> to generate realistic synthetic medical diagnosis records.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84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8D9F-A1F2-14A3-5C06-854D2CED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CC2AA-8085-D1BE-F96C-ACD79093F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17914"/>
            <a:ext cx="10058400" cy="435428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Traditional healthcare machine learning models require large amounts of patient data.</a:t>
            </a:r>
          </a:p>
          <a:p>
            <a:pPr marL="0" indent="0">
              <a:buNone/>
            </a:pPr>
            <a:r>
              <a:rPr lang="en-IN" dirty="0"/>
              <a:t>However:</a:t>
            </a:r>
          </a:p>
          <a:p>
            <a:r>
              <a:rPr lang="en-IN" dirty="0"/>
              <a:t>Patient records contain sensitive information </a:t>
            </a:r>
          </a:p>
          <a:p>
            <a:r>
              <a:rPr lang="en-IN" dirty="0"/>
              <a:t>Data sharing may create privacy risks </a:t>
            </a:r>
          </a:p>
          <a:p>
            <a:r>
              <a:rPr lang="en-IN" dirty="0"/>
              <a:t>Small datasets can lead to poor model generalization </a:t>
            </a:r>
          </a:p>
          <a:p>
            <a:r>
              <a:rPr lang="en-IN" dirty="0"/>
              <a:t>Collecting new medical data is expensive and time-consuming </a:t>
            </a:r>
          </a:p>
          <a:p>
            <a:pPr marL="0" indent="0">
              <a:buNone/>
            </a:pPr>
            <a:r>
              <a:rPr lang="en-IN" b="1" dirty="0"/>
              <a:t>Problem</a:t>
            </a:r>
          </a:p>
          <a:p>
            <a:pPr marL="0" indent="0">
              <a:buNone/>
            </a:pPr>
            <a:r>
              <a:rPr lang="en-IN" b="1" dirty="0"/>
              <a:t>How can we generate realistic healthcare records without directly exposing real patient information?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103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CB02-AE27-FEE9-DEB2-67667352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D4B9-28E8-5696-8DF4-94558C860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15886"/>
            <a:ext cx="10058400" cy="42563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Primary Objective</a:t>
            </a:r>
          </a:p>
          <a:p>
            <a:pPr marL="0" indent="0">
              <a:buNone/>
            </a:pPr>
            <a:r>
              <a:rPr lang="en-IN" dirty="0"/>
              <a:t>To generate realistic synthetic medical diagnosis records using the </a:t>
            </a:r>
            <a:r>
              <a:rPr lang="en-IN" b="1" dirty="0"/>
              <a:t>CTGAN Generative AI model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Secondary Objectives</a:t>
            </a:r>
          </a:p>
          <a:p>
            <a:r>
              <a:rPr lang="en-IN" dirty="0" err="1"/>
              <a:t>Analyze</a:t>
            </a:r>
            <a:r>
              <a:rPr lang="en-IN" dirty="0"/>
              <a:t> the original healthcare dataset </a:t>
            </a:r>
          </a:p>
          <a:p>
            <a:r>
              <a:rPr lang="en-IN" dirty="0"/>
              <a:t>Train a CTGAN model on real medical data </a:t>
            </a:r>
          </a:p>
          <a:p>
            <a:r>
              <a:rPr lang="en-IN" dirty="0"/>
              <a:t>Generate synthetic patient records </a:t>
            </a:r>
          </a:p>
          <a:p>
            <a:r>
              <a:rPr lang="en-IN" dirty="0"/>
              <a:t>Compare real and synthetic data distributions </a:t>
            </a:r>
          </a:p>
          <a:p>
            <a:r>
              <a:rPr lang="en-IN" dirty="0"/>
              <a:t>Combine real and synthetic data </a:t>
            </a:r>
          </a:p>
          <a:p>
            <a:r>
              <a:rPr lang="en-IN" dirty="0"/>
              <a:t>Train a machine learning classification model </a:t>
            </a:r>
          </a:p>
          <a:p>
            <a:r>
              <a:rPr lang="en-IN" dirty="0"/>
              <a:t>Evaluate the impact of synthetic data augmentation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39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4ADCE-E8E2-DEA6-F17E-CAB20BEC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1485"/>
            <a:ext cx="10058400" cy="1609344"/>
          </a:xfrm>
        </p:spPr>
        <p:txBody>
          <a:bodyPr/>
          <a:lstStyle/>
          <a:p>
            <a:r>
              <a:rPr lang="en-IN" u="sng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08C77-3FB2-47A8-EB97-6319CA7C4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82487"/>
            <a:ext cx="10058400" cy="54755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Dataset Used</a:t>
            </a:r>
          </a:p>
          <a:p>
            <a:pPr marL="0" indent="0">
              <a:buNone/>
            </a:pPr>
            <a:r>
              <a:rPr lang="en-IN" b="1" dirty="0"/>
              <a:t>Diabetes Prediction Dataset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Gender </a:t>
            </a:r>
          </a:p>
          <a:p>
            <a:r>
              <a:rPr lang="en-IN" dirty="0"/>
              <a:t>Age </a:t>
            </a:r>
          </a:p>
          <a:p>
            <a:r>
              <a:rPr lang="en-IN" dirty="0"/>
              <a:t>Hypertension </a:t>
            </a:r>
          </a:p>
          <a:p>
            <a:r>
              <a:rPr lang="en-IN" dirty="0"/>
              <a:t>Heart Disease </a:t>
            </a:r>
          </a:p>
          <a:p>
            <a:r>
              <a:rPr lang="en-IN" dirty="0"/>
              <a:t>Smoking History </a:t>
            </a:r>
          </a:p>
          <a:p>
            <a:r>
              <a:rPr lang="en-IN" dirty="0"/>
              <a:t>BMI </a:t>
            </a:r>
          </a:p>
          <a:p>
            <a:r>
              <a:rPr lang="en-IN" dirty="0"/>
              <a:t>HbA1c Level </a:t>
            </a:r>
          </a:p>
          <a:p>
            <a:r>
              <a:rPr lang="en-IN" dirty="0"/>
              <a:t>Blood Glucose Level </a:t>
            </a:r>
          </a:p>
          <a:p>
            <a:pPr marL="0" indent="0">
              <a:buNone/>
            </a:pPr>
            <a:r>
              <a:rPr lang="en-IN" b="1" dirty="0"/>
              <a:t>Target Variable</a:t>
            </a:r>
          </a:p>
          <a:p>
            <a:pPr marL="0" indent="0">
              <a:buNone/>
            </a:pPr>
            <a:r>
              <a:rPr lang="en-IN" b="1" dirty="0"/>
              <a:t>Diabetes</a:t>
            </a:r>
            <a:endParaRPr lang="en-IN" dirty="0"/>
          </a:p>
          <a:p>
            <a:r>
              <a:rPr lang="en-IN" dirty="0"/>
              <a:t>0 → Non-diabetic </a:t>
            </a:r>
          </a:p>
          <a:p>
            <a:r>
              <a:rPr lang="en-IN" dirty="0"/>
              <a:t>1 → Diabetic </a:t>
            </a:r>
          </a:p>
          <a:p>
            <a:pPr marL="0" indent="0">
              <a:buNone/>
            </a:pPr>
            <a:r>
              <a:rPr lang="en-IN" b="1" dirty="0"/>
              <a:t>Data Type</a:t>
            </a:r>
          </a:p>
          <a:p>
            <a:pPr marL="0" indent="0">
              <a:buNone/>
            </a:pPr>
            <a:r>
              <a:rPr lang="en-IN" b="1" dirty="0"/>
              <a:t>Structured Tabular Healthcare Data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920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4799-0598-0866-658D-1BDDB3EA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92462-F7A5-D54E-F62F-7DBF9E652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41715"/>
            <a:ext cx="10058400" cy="50183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Programming Language</a:t>
            </a:r>
          </a:p>
          <a:p>
            <a:r>
              <a:rPr lang="en-IN" b="1" dirty="0"/>
              <a:t>Python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Data Processing</a:t>
            </a:r>
          </a:p>
          <a:p>
            <a:r>
              <a:rPr lang="en-IN" dirty="0"/>
              <a:t>Pandas </a:t>
            </a:r>
          </a:p>
          <a:p>
            <a:r>
              <a:rPr lang="en-IN" dirty="0"/>
              <a:t>NumPy </a:t>
            </a:r>
          </a:p>
          <a:p>
            <a:pPr marL="0" indent="0">
              <a:buNone/>
            </a:pPr>
            <a:r>
              <a:rPr lang="en-IN" b="1" dirty="0"/>
              <a:t>Data Visualization</a:t>
            </a:r>
          </a:p>
          <a:p>
            <a:r>
              <a:rPr lang="en-IN" dirty="0"/>
              <a:t>Matplotlib </a:t>
            </a:r>
          </a:p>
          <a:p>
            <a:r>
              <a:rPr lang="en-IN" dirty="0"/>
              <a:t>Seaborn </a:t>
            </a:r>
          </a:p>
          <a:p>
            <a:pPr marL="0" indent="0">
              <a:buNone/>
            </a:pPr>
            <a:r>
              <a:rPr lang="en-IN" b="1" dirty="0"/>
              <a:t>Generative AI</a:t>
            </a:r>
          </a:p>
          <a:p>
            <a:r>
              <a:rPr lang="en-IN" dirty="0"/>
              <a:t>SDV </a:t>
            </a:r>
          </a:p>
          <a:p>
            <a:r>
              <a:rPr lang="en-IN" dirty="0"/>
              <a:t>CTGAN </a:t>
            </a:r>
          </a:p>
          <a:p>
            <a:pPr marL="0" indent="0">
              <a:buNone/>
            </a:pPr>
            <a:r>
              <a:rPr lang="en-IN" b="1" dirty="0"/>
              <a:t>Machine Learning</a:t>
            </a:r>
          </a:p>
          <a:p>
            <a:r>
              <a:rPr lang="en-IN" dirty="0"/>
              <a:t>Scikit-learn </a:t>
            </a:r>
          </a:p>
          <a:p>
            <a:r>
              <a:rPr lang="en-IN" dirty="0"/>
              <a:t>Random Forest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1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9D51-4480-B59B-AA37-2E4BD571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75657"/>
          </a:xfrm>
        </p:spPr>
        <p:txBody>
          <a:bodyPr/>
          <a:lstStyle/>
          <a:p>
            <a:r>
              <a:rPr lang="en-IN" u="sng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A55E-4DA7-6C99-D0F5-B68958ED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045029"/>
            <a:ext cx="8915400" cy="5812971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dirty="0"/>
              <a:t>Real Healthcare Dataset </a:t>
            </a:r>
          </a:p>
          <a:p>
            <a:pPr marL="0" indent="0" algn="ctr">
              <a:buNone/>
            </a:pPr>
            <a:r>
              <a:rPr lang="en-IN" dirty="0"/>
              <a:t> ↓ </a:t>
            </a:r>
          </a:p>
          <a:p>
            <a:pPr marL="0" indent="0" algn="ctr">
              <a:buNone/>
            </a:pPr>
            <a:r>
              <a:rPr lang="en-IN" dirty="0"/>
              <a:t>Data Cleaning &amp; Preprocessing  </a:t>
            </a:r>
          </a:p>
          <a:p>
            <a:pPr marL="0" indent="0" algn="ctr">
              <a:buNone/>
            </a:pPr>
            <a:r>
              <a:rPr lang="en-IN" dirty="0"/>
              <a:t>↓ </a:t>
            </a:r>
          </a:p>
          <a:p>
            <a:pPr marL="0" indent="0" algn="ctr">
              <a:buNone/>
            </a:pPr>
            <a:r>
              <a:rPr lang="en-IN" dirty="0"/>
              <a:t>Exploratory Data Analysis </a:t>
            </a:r>
          </a:p>
          <a:p>
            <a:pPr marL="0" indent="0" algn="ctr">
              <a:buNone/>
            </a:pPr>
            <a:r>
              <a:rPr lang="en-IN" dirty="0"/>
              <a:t>↓ </a:t>
            </a:r>
          </a:p>
          <a:p>
            <a:pPr marL="0" indent="0" algn="ctr">
              <a:buNone/>
            </a:pPr>
            <a:r>
              <a:rPr lang="en-IN" dirty="0"/>
              <a:t>Train CTGAN Model </a:t>
            </a:r>
          </a:p>
          <a:p>
            <a:pPr marL="0" indent="0" algn="ctr">
              <a:buNone/>
            </a:pPr>
            <a:r>
              <a:rPr lang="en-IN" dirty="0"/>
              <a:t>↓ </a:t>
            </a:r>
          </a:p>
          <a:p>
            <a:pPr marL="0" indent="0" algn="ctr">
              <a:buNone/>
            </a:pPr>
            <a:r>
              <a:rPr lang="en-IN" dirty="0"/>
              <a:t>Generate Synthetic Patient Records </a:t>
            </a:r>
          </a:p>
          <a:p>
            <a:pPr marL="0" indent="0" algn="ctr">
              <a:buNone/>
            </a:pPr>
            <a:r>
              <a:rPr lang="en-IN" dirty="0"/>
              <a:t>↓ </a:t>
            </a:r>
          </a:p>
          <a:p>
            <a:pPr marL="0" indent="0" algn="ctr">
              <a:buNone/>
            </a:pPr>
            <a:r>
              <a:rPr lang="en-IN" dirty="0"/>
              <a:t>Compare Real vs Synthetic Data </a:t>
            </a:r>
          </a:p>
          <a:p>
            <a:pPr marL="0" indent="0" algn="ctr">
              <a:buNone/>
            </a:pPr>
            <a:r>
              <a:rPr lang="en-IN" dirty="0"/>
              <a:t>↓ </a:t>
            </a:r>
          </a:p>
          <a:p>
            <a:pPr marL="0" indent="0" algn="ctr">
              <a:buNone/>
            </a:pPr>
            <a:r>
              <a:rPr lang="en-IN" dirty="0"/>
              <a:t>Combine Real + Synthetic Data </a:t>
            </a:r>
          </a:p>
          <a:p>
            <a:pPr marL="0" indent="0" algn="ctr">
              <a:buNone/>
            </a:pPr>
            <a:r>
              <a:rPr lang="en-IN" dirty="0"/>
              <a:t>↓ </a:t>
            </a:r>
          </a:p>
          <a:p>
            <a:pPr marL="0" indent="0" algn="ctr">
              <a:buNone/>
            </a:pPr>
            <a:r>
              <a:rPr lang="en-IN" dirty="0"/>
              <a:t>Train Random Forest Model </a:t>
            </a:r>
          </a:p>
          <a:p>
            <a:pPr marL="0" indent="0" algn="ctr">
              <a:buNone/>
            </a:pPr>
            <a:r>
              <a:rPr lang="en-IN" dirty="0"/>
              <a:t> ↓ </a:t>
            </a:r>
          </a:p>
          <a:p>
            <a:pPr marL="0" indent="0" algn="ctr">
              <a:buNone/>
            </a:pPr>
            <a:r>
              <a:rPr lang="en-IN" dirty="0"/>
              <a:t>Evaluate Performance</a:t>
            </a:r>
          </a:p>
        </p:txBody>
      </p:sp>
    </p:spTree>
    <p:extLst>
      <p:ext uri="{BB962C8B-B14F-4D97-AF65-F5344CB8AC3E}">
        <p14:creationId xmlns:p14="http://schemas.microsoft.com/office/powerpoint/2010/main" val="38403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312C-168D-D266-32FE-10B57856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6E01A-BD05-327F-6E05-BB8F0DADF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63487"/>
            <a:ext cx="10058400" cy="49856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The following analyses were performed:</a:t>
            </a:r>
          </a:p>
          <a:p>
            <a:r>
              <a:rPr lang="en-IN" dirty="0"/>
              <a:t>Dataset shape and structure </a:t>
            </a:r>
          </a:p>
          <a:p>
            <a:r>
              <a:rPr lang="en-IN" dirty="0"/>
              <a:t>Missing value analysis </a:t>
            </a:r>
          </a:p>
          <a:p>
            <a:r>
              <a:rPr lang="en-IN" dirty="0"/>
              <a:t>Duplicate record detection </a:t>
            </a:r>
          </a:p>
          <a:p>
            <a:r>
              <a:rPr lang="en-IN" dirty="0"/>
              <a:t>Statistical analysis </a:t>
            </a:r>
          </a:p>
          <a:p>
            <a:r>
              <a:rPr lang="en-IN" dirty="0"/>
              <a:t>Target variable distribution </a:t>
            </a:r>
          </a:p>
          <a:p>
            <a:r>
              <a:rPr lang="en-IN" dirty="0"/>
              <a:t>Age distribution </a:t>
            </a:r>
          </a:p>
          <a:p>
            <a:r>
              <a:rPr lang="en-IN" dirty="0"/>
              <a:t>BMI distribution </a:t>
            </a:r>
          </a:p>
          <a:p>
            <a:r>
              <a:rPr lang="en-IN" dirty="0"/>
              <a:t>Blood glucose distribution </a:t>
            </a:r>
          </a:p>
          <a:p>
            <a:r>
              <a:rPr lang="en-IN" dirty="0"/>
              <a:t>HbA1c distribution </a:t>
            </a:r>
          </a:p>
          <a:p>
            <a:r>
              <a:rPr lang="en-IN" dirty="0"/>
              <a:t>Correlation analysis </a:t>
            </a:r>
          </a:p>
          <a:p>
            <a:pPr marL="0" indent="0">
              <a:buNone/>
            </a:pPr>
            <a:r>
              <a:rPr lang="en-IN" b="1" dirty="0"/>
              <a:t>Key Purpose</a:t>
            </a:r>
          </a:p>
          <a:p>
            <a:pPr marL="0" indent="0">
              <a:buNone/>
            </a:pPr>
            <a:r>
              <a:rPr lang="en-IN" dirty="0"/>
              <a:t>To understand the data distribution before training the generative model.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85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1B05-DAB3-2E46-D470-2123DE85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23F11-AD73-3C57-E7DD-2AD0C920E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28800"/>
            <a:ext cx="100584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1. Missing Value Analysis</a:t>
            </a:r>
          </a:p>
          <a:p>
            <a:r>
              <a:rPr lang="en-IN" dirty="0"/>
              <a:t>Checked the dataset for missing values.</a:t>
            </a:r>
          </a:p>
          <a:p>
            <a:pPr marL="0" indent="0">
              <a:buNone/>
            </a:pPr>
            <a:r>
              <a:rPr lang="en-IN" b="1" dirty="0"/>
              <a:t>2. Duplicate Removal</a:t>
            </a:r>
          </a:p>
          <a:p>
            <a:r>
              <a:rPr lang="en-IN" dirty="0"/>
              <a:t>Duplicate records were identified and removed.</a:t>
            </a:r>
          </a:p>
          <a:p>
            <a:pPr marL="0" indent="0">
              <a:buNone/>
            </a:pPr>
            <a:r>
              <a:rPr lang="en-IN" b="1" dirty="0"/>
              <a:t>3. Categorical Encoding</a:t>
            </a:r>
          </a:p>
          <a:p>
            <a:r>
              <a:rPr lang="en-IN" dirty="0"/>
              <a:t>Categorical features were converted into numerical values.</a:t>
            </a:r>
          </a:p>
          <a:p>
            <a:pPr marL="0" indent="0">
              <a:buNone/>
            </a:pPr>
            <a:r>
              <a:rPr lang="en-IN" b="1" dirty="0"/>
              <a:t>4. Feature Scaling</a:t>
            </a:r>
          </a:p>
          <a:p>
            <a:r>
              <a:rPr lang="en-IN" dirty="0"/>
              <a:t>Numerical features were standardized where required.</a:t>
            </a:r>
          </a:p>
          <a:p>
            <a:pPr marL="0" indent="0">
              <a:buNone/>
            </a:pPr>
            <a:r>
              <a:rPr lang="en-IN" b="1" dirty="0"/>
              <a:t>5. Dataset Validation</a:t>
            </a:r>
          </a:p>
          <a:p>
            <a:r>
              <a:rPr lang="en-IN" dirty="0"/>
              <a:t>The cleaned dataset was saved for CTGAN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12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73F2-FDEF-991D-D693-F4165545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738" y="141514"/>
            <a:ext cx="10058400" cy="1175658"/>
          </a:xfrm>
        </p:spPr>
        <p:txBody>
          <a:bodyPr/>
          <a:lstStyle/>
          <a:p>
            <a:r>
              <a:rPr lang="en-IN" u="sng" dirty="0"/>
              <a:t>CTGAN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569E4-2B6D-4E35-A8B9-9E68B337B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29" y="1426029"/>
            <a:ext cx="10616619" cy="52904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CTGAN: Conditional Tabular Generative Adversarial Network</a:t>
            </a:r>
          </a:p>
          <a:p>
            <a:pPr marL="0" indent="0">
              <a:buNone/>
            </a:pPr>
            <a:r>
              <a:rPr lang="en-IN" dirty="0"/>
              <a:t>CTGAN is a Generative AI model designed specifically for structured tabular data.</a:t>
            </a:r>
          </a:p>
          <a:p>
            <a:pPr marL="0" indent="0">
              <a:buNone/>
            </a:pPr>
            <a:r>
              <a:rPr lang="en-IN" b="1" dirty="0"/>
              <a:t>Main Components</a:t>
            </a:r>
          </a:p>
          <a:p>
            <a:pPr marL="0" indent="0">
              <a:buNone/>
            </a:pPr>
            <a:r>
              <a:rPr lang="en-IN" b="1" dirty="0"/>
              <a:t>Generator</a:t>
            </a:r>
            <a:endParaRPr lang="en-IN" dirty="0"/>
          </a:p>
          <a:p>
            <a:r>
              <a:rPr lang="en-IN" dirty="0"/>
              <a:t>Creates synthetic patient records.</a:t>
            </a:r>
          </a:p>
          <a:p>
            <a:pPr marL="0" indent="0">
              <a:buNone/>
            </a:pPr>
            <a:r>
              <a:rPr lang="en-IN" b="1" dirty="0"/>
              <a:t>Discriminator</a:t>
            </a:r>
            <a:endParaRPr lang="en-IN" dirty="0"/>
          </a:p>
          <a:p>
            <a:r>
              <a:rPr lang="en-IN" dirty="0"/>
              <a:t>Attempts to distinguish real records from synthetic records.</a:t>
            </a:r>
          </a:p>
          <a:p>
            <a:pPr marL="0" indent="0">
              <a:buNone/>
            </a:pPr>
            <a:r>
              <a:rPr lang="en-IN" b="1" dirty="0"/>
              <a:t>Training Process</a:t>
            </a:r>
          </a:p>
          <a:p>
            <a:pPr marL="0" indent="0">
              <a:buNone/>
            </a:pPr>
            <a:r>
              <a:rPr lang="en-IN" dirty="0"/>
              <a:t>Real Healthcare Data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 CTGAN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Learns Data Distribution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Generates Synthetic Records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003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5146B-E409-1BFC-7330-E0E769E8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56032"/>
            <a:ext cx="10058400" cy="1115568"/>
          </a:xfrm>
        </p:spPr>
        <p:txBody>
          <a:bodyPr/>
          <a:lstStyle/>
          <a:p>
            <a:r>
              <a:rPr lang="en-IN" u="sng" dirty="0"/>
              <a:t>SYNTHETIC DATA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FC041-8676-A866-7D1F-CBE008483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97429"/>
            <a:ext cx="10058400" cy="5660571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Synthetic Medical Record Generation</a:t>
            </a:r>
          </a:p>
          <a:p>
            <a:r>
              <a:rPr lang="en-IN" dirty="0"/>
              <a:t>After training the CTGAN model:</a:t>
            </a:r>
          </a:p>
          <a:p>
            <a:pPr marL="0" indent="0">
              <a:buNone/>
            </a:pPr>
            <a:r>
              <a:rPr lang="en-IN" b="1" dirty="0"/>
              <a:t>Input</a:t>
            </a:r>
          </a:p>
          <a:p>
            <a:r>
              <a:rPr lang="en-IN" dirty="0"/>
              <a:t>Real cleaned healthcare dataset</a:t>
            </a:r>
          </a:p>
          <a:p>
            <a:pPr marL="0" indent="0">
              <a:buNone/>
            </a:pPr>
            <a:r>
              <a:rPr lang="en-IN" b="1" dirty="0"/>
              <a:t>Generative Model</a:t>
            </a:r>
          </a:p>
          <a:p>
            <a:r>
              <a:rPr lang="en-IN" dirty="0"/>
              <a:t>CTGAN</a:t>
            </a:r>
          </a:p>
          <a:p>
            <a:pPr marL="0" indent="0">
              <a:buNone/>
            </a:pPr>
            <a:r>
              <a:rPr lang="en-IN" b="1" dirty="0"/>
              <a:t>Output</a:t>
            </a:r>
          </a:p>
          <a:p>
            <a:r>
              <a:rPr lang="en-IN" dirty="0"/>
              <a:t>Synthetic medical diagnosis records</a:t>
            </a:r>
          </a:p>
          <a:p>
            <a:pPr marL="0" indent="0">
              <a:buNone/>
            </a:pPr>
            <a:r>
              <a:rPr lang="en-IN" b="1" dirty="0"/>
              <a:t>Generated Dataset</a:t>
            </a:r>
          </a:p>
          <a:p>
            <a:pPr marL="0" indent="0">
              <a:buNone/>
            </a:pPr>
            <a:r>
              <a:rPr lang="en-IN" b="1" dirty="0"/>
              <a:t>5,000 synthetic patient records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Synthetic Data Contains</a:t>
            </a:r>
          </a:p>
          <a:p>
            <a:r>
              <a:rPr lang="en-IN" dirty="0"/>
              <a:t>Patient demographics </a:t>
            </a:r>
          </a:p>
          <a:p>
            <a:r>
              <a:rPr lang="en-IN" dirty="0"/>
              <a:t>Health conditions </a:t>
            </a:r>
          </a:p>
          <a:p>
            <a:r>
              <a:rPr lang="en-IN" dirty="0"/>
              <a:t>Lifestyle information </a:t>
            </a:r>
          </a:p>
          <a:p>
            <a:r>
              <a:rPr lang="en-IN" dirty="0"/>
              <a:t>Medical measurements </a:t>
            </a:r>
          </a:p>
          <a:p>
            <a:r>
              <a:rPr lang="en-IN" dirty="0"/>
              <a:t>Diabetes diagnosis label </a:t>
            </a:r>
          </a:p>
          <a:p>
            <a:pPr marL="0" indent="0">
              <a:buNone/>
            </a:pPr>
            <a:r>
              <a:rPr lang="en-IN" dirty="0"/>
              <a:t>The generated data is statistically similar to the original data but does not directly represent individual real patient records.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538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F24F-7DD1-0DA4-FC40-8C40D7D4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VISUALIZATION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6A5D0-CBA0-3359-DCAC-8DB0248A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19943"/>
            <a:ext cx="10058400" cy="49965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The project includes:</a:t>
            </a:r>
          </a:p>
          <a:p>
            <a:r>
              <a:rPr lang="en-IN" dirty="0"/>
              <a:t>Original data correlation heatmap </a:t>
            </a:r>
          </a:p>
          <a:p>
            <a:r>
              <a:rPr lang="en-IN" dirty="0"/>
              <a:t>Synthetic data correlation heatmap </a:t>
            </a:r>
          </a:p>
          <a:p>
            <a:r>
              <a:rPr lang="en-IN" dirty="0"/>
              <a:t>Age distribution comparison </a:t>
            </a:r>
          </a:p>
          <a:p>
            <a:r>
              <a:rPr lang="en-IN" dirty="0"/>
              <a:t>BMI distribution comparison </a:t>
            </a:r>
          </a:p>
          <a:p>
            <a:r>
              <a:rPr lang="en-IN" dirty="0"/>
              <a:t>Blood glucose distribution comparison </a:t>
            </a:r>
          </a:p>
          <a:p>
            <a:r>
              <a:rPr lang="en-IN" dirty="0"/>
              <a:t>HbA1c distribution comparison </a:t>
            </a:r>
          </a:p>
          <a:p>
            <a:r>
              <a:rPr lang="en-IN" dirty="0"/>
              <a:t>PCA comparison </a:t>
            </a:r>
          </a:p>
          <a:p>
            <a:r>
              <a:rPr lang="en-IN" dirty="0"/>
              <a:t>t-SNE visualization </a:t>
            </a:r>
          </a:p>
          <a:p>
            <a:r>
              <a:rPr lang="en-IN" dirty="0"/>
              <a:t>Feature importance </a:t>
            </a:r>
          </a:p>
          <a:p>
            <a:r>
              <a:rPr lang="en-IN" dirty="0"/>
              <a:t>Confusion matrix </a:t>
            </a:r>
          </a:p>
          <a:p>
            <a:r>
              <a:rPr lang="en-IN" dirty="0"/>
              <a:t>ROC curve </a:t>
            </a:r>
          </a:p>
          <a:p>
            <a:pPr marL="0" indent="0">
              <a:buNone/>
            </a:pPr>
            <a:r>
              <a:rPr lang="en-IN" dirty="0"/>
              <a:t>These visualizations help validate the quality of the generated synthetic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811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DA9AF-C01F-A64E-C366-944AD9BB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A4D38-E287-23E0-D377-DE6A80951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63485"/>
            <a:ext cx="10058400" cy="49965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The Random Forest model was used to identify the most influential features for diabetes prediction.</a:t>
            </a:r>
          </a:p>
          <a:p>
            <a:pPr marL="0" indent="0">
              <a:buNone/>
            </a:pPr>
            <a:r>
              <a:rPr lang="en-IN" b="1" dirty="0"/>
              <a:t>Important Features</a:t>
            </a:r>
          </a:p>
          <a:p>
            <a:r>
              <a:rPr lang="en-IN" dirty="0"/>
              <a:t>Use the actual output from your feature importance graph.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Blood Glucose Level </a:t>
            </a:r>
          </a:p>
          <a:p>
            <a:r>
              <a:rPr lang="en-IN" dirty="0"/>
              <a:t>HbA1c Level </a:t>
            </a:r>
          </a:p>
          <a:p>
            <a:r>
              <a:rPr lang="en-IN" dirty="0"/>
              <a:t>BMI </a:t>
            </a:r>
          </a:p>
          <a:p>
            <a:r>
              <a:rPr lang="en-IN" dirty="0"/>
              <a:t>Age </a:t>
            </a:r>
          </a:p>
          <a:p>
            <a:r>
              <a:rPr lang="en-IN" dirty="0"/>
              <a:t>Hypertension </a:t>
            </a:r>
          </a:p>
          <a:p>
            <a:r>
              <a:rPr lang="en-IN" dirty="0"/>
              <a:t>Heart Disease </a:t>
            </a:r>
          </a:p>
          <a:p>
            <a:r>
              <a:rPr lang="en-IN" dirty="0"/>
              <a:t>Smoking History </a:t>
            </a:r>
          </a:p>
          <a:p>
            <a:r>
              <a:rPr lang="en-IN" dirty="0"/>
              <a:t>Gender </a:t>
            </a:r>
          </a:p>
          <a:p>
            <a:pPr marL="0" indent="0">
              <a:buNone/>
            </a:pPr>
            <a:r>
              <a:rPr lang="en-IN" b="1" dirty="0"/>
              <a:t>Insight</a:t>
            </a:r>
          </a:p>
          <a:p>
            <a:pPr marL="0" indent="0">
              <a:buNone/>
            </a:pPr>
            <a:r>
              <a:rPr lang="en-IN" dirty="0"/>
              <a:t>Medical measurements such as blood glucose and HbA1c levels are expected to have a strong relationship with diabetes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136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8C22-AA6E-E735-A78B-7E187C89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B3360-BBB5-DDE1-ECB4-ACACDB9F0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276" y="1970315"/>
            <a:ext cx="10058400" cy="4278085"/>
          </a:xfrm>
        </p:spPr>
        <p:txBody>
          <a:bodyPr>
            <a:normAutofit/>
          </a:bodyPr>
          <a:lstStyle/>
          <a:p>
            <a:r>
              <a:rPr lang="en-IN" sz="2400" dirty="0"/>
              <a:t>This project demonstrated the use of </a:t>
            </a:r>
            <a:r>
              <a:rPr lang="en-IN" sz="2400" b="1" dirty="0"/>
              <a:t>Generative AI for synthetic healthcare data generation</a:t>
            </a:r>
            <a:r>
              <a:rPr lang="en-IN" sz="2400" dirty="0"/>
              <a:t>.</a:t>
            </a:r>
          </a:p>
          <a:p>
            <a:r>
              <a:rPr lang="en-IN" sz="2400" dirty="0"/>
              <a:t>The CTGAN model was trained to learn patterns from a real healthcare dataset and generate synthetic medical diagnosis records.</a:t>
            </a:r>
          </a:p>
          <a:p>
            <a:r>
              <a:rPr lang="en-IN" sz="2400" dirty="0"/>
              <a:t>The generated data was evaluated using statistical analysis and visualization techniques.</a:t>
            </a:r>
          </a:p>
          <a:p>
            <a:r>
              <a:rPr lang="en-IN" sz="2400" dirty="0"/>
              <a:t>The synthetic data was then used to augment the original dataset and evaluate its impact on a Random Forest diabetes prediction model.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1760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38</TotalTime>
  <Words>757</Words>
  <Application>Microsoft Office PowerPoint</Application>
  <PresentationFormat>Widescreen</PresentationFormat>
  <Paragraphs>177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Rockwell</vt:lpstr>
      <vt:lpstr>Rockwell Condensed</vt:lpstr>
      <vt:lpstr>Wingdings</vt:lpstr>
      <vt:lpstr>Wood Type</vt:lpstr>
      <vt:lpstr>Synthetic Medical Diagnosis Record Generation Using CTGAN </vt:lpstr>
      <vt:lpstr>Introduction</vt:lpstr>
      <vt:lpstr>Problem Statement</vt:lpstr>
      <vt:lpstr>Project Objectives</vt:lpstr>
      <vt:lpstr>Dataset Description</vt:lpstr>
      <vt:lpstr>Technology Stack</vt:lpstr>
      <vt:lpstr>Project Workflow</vt:lpstr>
      <vt:lpstr>Exploratory Data Analysis</vt:lpstr>
      <vt:lpstr>Data Preprocessing</vt:lpstr>
      <vt:lpstr>CTGAN MODEL</vt:lpstr>
      <vt:lpstr>SYNTHETIC DATA GENERATION</vt:lpstr>
      <vt:lpstr>VISUALIZATION RESULTS</vt:lpstr>
      <vt:lpstr>FEATURE IMPORTANCE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Bhadouria</dc:creator>
  <cp:lastModifiedBy>Simran Bhadouria</cp:lastModifiedBy>
  <cp:revision>1</cp:revision>
  <dcterms:created xsi:type="dcterms:W3CDTF">2026-07-18T16:54:24Z</dcterms:created>
  <dcterms:modified xsi:type="dcterms:W3CDTF">2026-07-18T17:33:12Z</dcterms:modified>
</cp:coreProperties>
</file>